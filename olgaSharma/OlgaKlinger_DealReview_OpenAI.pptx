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IBM Plex Sans Medium"/>
      <p:regular r:id="rId13"/>
    </p:embeddedFont>
    <p:embeddedFont>
      <p:font typeface="IBM Plex Sans Medium"/>
      <p:regular r:id="rId14"/>
    </p:embeddedFont>
    <p:embeddedFont>
      <p:font typeface="IBM Plex Sans Medium"/>
      <p:regular r:id="rId15"/>
    </p:embeddedFont>
    <p:embeddedFont>
      <p:font typeface="IBM Plex Sans Medium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783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Deal Review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3972878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Olga Klinger</a:t>
            </a:r>
            <a:endParaRPr lang="en-US" sz="6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760" y="689729"/>
            <a:ext cx="8680013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$1.5M Lifestyle Developer Initiative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6760" y="1758077"/>
            <a:ext cx="13136880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 Reality Labs | Quest VR App Marketplace | 2024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6760" y="2390418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Stats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6760" y="3131582"/>
            <a:ext cx="3095982" cy="704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5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89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961073" y="4092893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Applications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6760" y="4546640"/>
            <a:ext cx="3095982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180% above forecast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093607" y="3131582"/>
            <a:ext cx="3096101" cy="704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5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40%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4307919" y="4092893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Net-New Developers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40573" y="3131582"/>
            <a:ext cx="3096101" cy="704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5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9%</a:t>
            </a:r>
            <a:endParaRPr lang="en-US" sz="5500" dirty="0"/>
          </a:p>
        </p:txBody>
      </p:sp>
      <p:sp>
        <p:nvSpPr>
          <p:cNvPr id="11" name="Text 9"/>
          <p:cNvSpPr/>
          <p:nvPr/>
        </p:nvSpPr>
        <p:spPr>
          <a:xfrm>
            <a:off x="7654885" y="4092893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Acceptance Rate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440573" y="4546640"/>
            <a:ext cx="3096101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selected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787539" y="3131582"/>
            <a:ext cx="3096101" cy="704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5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2wk</a:t>
            </a:r>
            <a:endParaRPr lang="en-US" sz="5500" dirty="0"/>
          </a:p>
        </p:txBody>
      </p:sp>
      <p:sp>
        <p:nvSpPr>
          <p:cNvPr id="14" name="Text 12"/>
          <p:cNvSpPr/>
          <p:nvPr/>
        </p:nvSpPr>
        <p:spPr>
          <a:xfrm>
            <a:off x="11001851" y="4092893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Contracts Closed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787539" y="4546640"/>
            <a:ext cx="3096101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 record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6760" y="5178981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 Owned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440180" y="5813465"/>
            <a:ext cx="5749528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content gap in Meta's VR marketplace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8133993" y="5813465"/>
            <a:ext cx="5749647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Conceived initiative, built business case, secured $1.5M executive funding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1440180" y="6877407"/>
            <a:ext cx="5749528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 end-to-end competitive process: sourcing, evaluation, selection, contracting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133993" y="6877407"/>
            <a:ext cx="5749647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all 8 partnerships through delivery against revenue targets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5470" y="834628"/>
            <a:ext cx="5800844" cy="494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Navigating Internal Competition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55470" y="1373148"/>
            <a:ext cx="410753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Protecting the deal in a matrixed organization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1741527" y="1785818"/>
            <a:ext cx="3798689" cy="3968353"/>
          </a:xfrm>
          <a:prstGeom prst="roundRect">
            <a:avLst>
              <a:gd name="adj" fmla="val 625"/>
            </a:avLst>
          </a:prstGeom>
          <a:solidFill>
            <a:srgbClr val="FFBC8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899761" y="1896189"/>
            <a:ext cx="1978104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Challenge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899761" y="2253734"/>
            <a:ext cx="3482221" cy="897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competing team launched a parallel initiative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Risk: resource dilution, strategic confusion, or program cancellation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19894" y="1896189"/>
            <a:ext cx="1978104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 Did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819894" y="2267545"/>
            <a:ext cx="158234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19894" y="2513528"/>
            <a:ext cx="6962418" cy="2286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819894" y="2638306"/>
            <a:ext cx="6962418" cy="214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not escalate reactively or lobby against the other team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19894" y="3082052"/>
            <a:ext cx="158234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19894" y="3328035"/>
            <a:ext cx="6962418" cy="2286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819894" y="3452813"/>
            <a:ext cx="6962418" cy="214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Independently met with executive, product, and strategy leads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19894" y="3896558"/>
            <a:ext cx="158234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19894" y="4142542"/>
            <a:ext cx="6962418" cy="2286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819894" y="4267319"/>
            <a:ext cx="6962418" cy="42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structured differentiation: their initiative (VC-adjacent, North America only) vs. mine (global tech studios across EMEA, APAC, NORAM)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19894" y="4925854"/>
            <a:ext cx="158234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19894" y="5171837"/>
            <a:ext cx="6962418" cy="2286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819894" y="5296614"/>
            <a:ext cx="6962418" cy="214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ROI framework showing incremental ecosystem value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55470" y="5919668"/>
            <a:ext cx="1978104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Outcome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1855470" y="6332339"/>
            <a:ext cx="10919341" cy="1062514"/>
          </a:xfrm>
          <a:prstGeom prst="roundRect">
            <a:avLst>
              <a:gd name="adj" fmla="val 2234"/>
            </a:avLst>
          </a:prstGeom>
          <a:solidFill>
            <a:srgbClr val="484B51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855470" y="6332339"/>
            <a:ext cx="5459611" cy="531257"/>
          </a:xfrm>
          <a:prstGeom prst="roundRect">
            <a:avLst>
              <a:gd name="adj" fmla="val 4468"/>
            </a:avLst>
          </a:prstGeom>
          <a:solidFill>
            <a:srgbClr val="484B5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013704" y="6490573"/>
            <a:ext cx="5143143" cy="214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Secured executive endorsement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081" y="6332339"/>
            <a:ext cx="5459730" cy="531257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081" y="6332339"/>
            <a:ext cx="22860" cy="531257"/>
          </a:xfrm>
          <a:prstGeom prst="roundRect">
            <a:avLst>
              <a:gd name="adj" fmla="val 103840"/>
            </a:avLst>
          </a:prstGeom>
          <a:solidFill>
            <a:srgbClr val="61646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473315" y="6490573"/>
            <a:ext cx="5143262" cy="214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programs proceeded without consolidation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55470" y="6863596"/>
            <a:ext cx="5459611" cy="531257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855470" y="6863596"/>
            <a:ext cx="5459611" cy="22860"/>
          </a:xfrm>
          <a:prstGeom prst="roundRect">
            <a:avLst>
              <a:gd name="adj" fmla="val 103840"/>
            </a:avLst>
          </a:prstGeom>
          <a:solidFill>
            <a:srgbClr val="61646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13704" y="7021830"/>
            <a:ext cx="5143143" cy="214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Maintained full ownership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081" y="6863596"/>
            <a:ext cx="5459730" cy="531257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315081" y="6863596"/>
            <a:ext cx="22860" cy="531257"/>
          </a:xfrm>
          <a:prstGeom prst="roundRect">
            <a:avLst>
              <a:gd name="adj" fmla="val 103840"/>
            </a:avLst>
          </a:prstGeom>
          <a:solidFill>
            <a:srgbClr val="61646A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315081" y="6863596"/>
            <a:ext cx="5459730" cy="22860"/>
          </a:xfrm>
          <a:prstGeom prst="roundRect">
            <a:avLst>
              <a:gd name="adj" fmla="val 103840"/>
            </a:avLst>
          </a:prstGeom>
          <a:solidFill>
            <a:srgbClr val="61646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473315" y="7021830"/>
            <a:ext cx="5143262" cy="214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 framework adopted as org template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4698"/>
            <a:ext cx="93177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Sourcing, Selection, and Deal Terms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70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Pipeline Generation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51597"/>
            <a:ext cx="393334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outbound: Discord, social, Meta developer comms, personal network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 inbound submissions, 40% net-new to Meta's ecosystem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180% above pipeline forecast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124807" y="2443639"/>
            <a:ext cx="4260056" cy="4391263"/>
          </a:xfrm>
          <a:prstGeom prst="roundRect">
            <a:avLst>
              <a:gd name="adj" fmla="val 799"/>
            </a:avLst>
          </a:prstGeom>
          <a:solidFill>
            <a:srgbClr val="FFBC8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1621" y="2670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Qualification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51621" y="3251597"/>
            <a:ext cx="3806428" cy="35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cross-functional scoring framework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dimensions: technical feasibility, commercial viability, ecosystem contribution, roadmap alignment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committee: Product, Merchandising, PMM, Engineering, Partnerships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9% acceptance rate (8 of 89)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82532" y="2670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Deal Structure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2532" y="3251597"/>
            <a:ext cx="4069199" cy="269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3-4 gated milestones: prototype, technical validation, store readiness, revenue performance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incentive tied to Top 20 Quest Store ranking within 6 months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Pre-aligned legal templates enabled 2-week close cycle (org record)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624602"/>
            <a:ext cx="5665351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075" y="1898690"/>
            <a:ext cx="3048833" cy="74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$1.5M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1184" y="2929533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Deployed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075" y="3419237"/>
            <a:ext cx="3048833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8 global partnerships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4801" y="1898690"/>
            <a:ext cx="3048953" cy="74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112%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2910" y="2929533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Game Sales Targets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646" y="1898690"/>
            <a:ext cx="3048833" cy="74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140%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7559873" y="2929533"/>
            <a:ext cx="2842379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MAP and MAU Targets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8372" y="1898690"/>
            <a:ext cx="3048953" cy="74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896481" y="2929533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Completion Rate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88372" y="3419237"/>
            <a:ext cx="3048953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partner drop-off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29841" y="4036219"/>
            <a:ext cx="6572131" cy="3568779"/>
          </a:xfrm>
          <a:prstGeom prst="roundRect">
            <a:avLst>
              <a:gd name="adj" fmla="val 953"/>
            </a:avLst>
          </a:prstGeom>
          <a:solidFill>
            <a:srgbClr val="FFBC8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6417" y="4262557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Standout Partner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6417" y="4842867"/>
            <a:ext cx="6118979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Targo's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"Crafting Crimes"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reached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5 across two key demographics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56417" y="5771198"/>
            <a:ext cx="6118979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Sustained ranking for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consecutive weeks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283" y="4262557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Lasting Impact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99283" y="4842867"/>
            <a:ext cx="6245662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repeatable framework: scoring model, milestone template, onboarding playbook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283" y="5771198"/>
            <a:ext cx="6245662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Adopted org-wide for future initiatives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599283" y="6388179"/>
            <a:ext cx="6245662" cy="962144"/>
          </a:xfrm>
          <a:prstGeom prst="roundRect">
            <a:avLst>
              <a:gd name="adj" fmla="val 3533"/>
            </a:avLst>
          </a:prstGeom>
          <a:solidFill>
            <a:srgbClr val="4D1F00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335685" y="6671072"/>
            <a:ext cx="5282684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milestone extensions. Zero partner drop-off.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404" y="1384935"/>
            <a:ext cx="5539859" cy="542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This Deal, Why OpenAI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00388" y="2126813"/>
            <a:ext cx="4167426" cy="2485192"/>
          </a:xfrm>
          <a:prstGeom prst="roundRect">
            <a:avLst>
              <a:gd name="adj" fmla="val 1048"/>
            </a:avLst>
          </a:prstGeom>
          <a:solidFill>
            <a:srgbClr val="FFBC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3981" y="2259687"/>
            <a:ext cx="2215753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This Deal Proves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3981" y="2663785"/>
            <a:ext cx="3820239" cy="1901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identify market gaps and build business cases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navigate internal competition under pressure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design commercial structures tied to revenue outcomes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manage account portfolios through delivery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build repeatable frameworks that scale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74043" y="2259687"/>
            <a:ext cx="2170152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My Sales Foundation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74043" y="2680335"/>
            <a:ext cx="3752731" cy="1532453"/>
          </a:xfrm>
          <a:prstGeom prst="roundRect">
            <a:avLst>
              <a:gd name="adj" fmla="val 7160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51183" y="2680335"/>
            <a:ext cx="91440" cy="1532453"/>
          </a:xfrm>
          <a:prstGeom prst="roundRect">
            <a:avLst>
              <a:gd name="adj" fmla="val 28481"/>
            </a:avLst>
          </a:prstGeom>
          <a:solidFill>
            <a:srgbClr val="FFBC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39076" y="2876788"/>
            <a:ext cx="2170152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Contentful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39076" y="3280886"/>
            <a:ext cx="3291245" cy="73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$351K flagship new logo (SmileDirectClub). Expanded MLB, Medtronic, Asurion 140%+.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559647" y="2680335"/>
            <a:ext cx="3752850" cy="1532453"/>
          </a:xfrm>
          <a:prstGeom prst="roundRect">
            <a:avLst>
              <a:gd name="adj" fmla="val 7160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536787" y="2680335"/>
            <a:ext cx="91440" cy="1532453"/>
          </a:xfrm>
          <a:prstGeom prst="roundRect">
            <a:avLst>
              <a:gd name="adj" fmla="val 28481"/>
            </a:avLst>
          </a:prstGeom>
          <a:solidFill>
            <a:srgbClr val="FFBC8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24680" y="2876788"/>
            <a:ext cx="2170152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Khoros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24680" y="3280886"/>
            <a:ext cx="3291364" cy="490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220% of quota across 15 accounts (Visa, Square, Sephora). Multi-year agreements.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404" y="4811316"/>
            <a:ext cx="2170152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OpenAI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325404" y="5281851"/>
            <a:ext cx="5923359" cy="592336"/>
          </a:xfrm>
          <a:prstGeom prst="roundRect">
            <a:avLst>
              <a:gd name="adj" fmla="val 4397"/>
            </a:avLst>
          </a:prstGeom>
          <a:solidFill>
            <a:srgbClr val="484B5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98997" y="5455444"/>
            <a:ext cx="5576173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strategic partnerships with ~5 high-value accounts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81637" y="5281851"/>
            <a:ext cx="5923359" cy="592336"/>
          </a:xfrm>
          <a:prstGeom prst="roundRect">
            <a:avLst>
              <a:gd name="adj" fmla="val 4397"/>
            </a:avLst>
          </a:prstGeom>
          <a:solidFill>
            <a:srgbClr val="484B5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55230" y="5455444"/>
            <a:ext cx="5576173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Consumption revenue: I succeed when my customers succeed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25404" y="6007060"/>
            <a:ext cx="5923359" cy="837486"/>
          </a:xfrm>
          <a:prstGeom prst="roundRect">
            <a:avLst>
              <a:gd name="adj" fmla="val 3110"/>
            </a:avLst>
          </a:prstGeom>
          <a:solidFill>
            <a:srgbClr val="484B5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98997" y="6180653"/>
            <a:ext cx="5576173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is the most important platform shift since cloud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381637" y="6007060"/>
            <a:ext cx="5923359" cy="837486"/>
          </a:xfrm>
          <a:prstGeom prst="roundRect">
            <a:avLst>
              <a:gd name="adj" fmla="val 3110"/>
            </a:avLst>
          </a:prstGeom>
          <a:solidFill>
            <a:srgbClr val="484B5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555230" y="6180653"/>
            <a:ext cx="5576173" cy="490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Milestone-based funding = consumption revenue. We win when the customer wins.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2026-03-13T18:52:59Z</dcterms:created>
  <dcterms:modified xsi:type="dcterms:W3CDTF">2026-03-13T18:52:59Z</dcterms:modified>
</cp:coreProperties>
</file>